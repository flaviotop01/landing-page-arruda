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76" r:id="rId7"/>
    <p:sldId id="277" r:id="rId8"/>
    <p:sldId id="264" r:id="rId9"/>
    <p:sldId id="265" r:id="rId10"/>
    <p:sldId id="266" r:id="rId11"/>
    <p:sldId id="274" r:id="rId12"/>
    <p:sldId id="275" r:id="rId13"/>
  </p:sldIdLst>
  <p:sldSz cx="18288000" cy="10287000"/>
  <p:notesSz cx="6858000" cy="9144000"/>
  <p:embeddedFontLst>
    <p:embeddedFont>
      <p:font typeface="Livvic" pitchFamily="2" charset="0"/>
      <p:regular r:id="rId14"/>
    </p:embeddedFont>
    <p:embeddedFont>
      <p:font typeface="Livvic Bold" charset="0"/>
      <p:regular r:id="rId15"/>
    </p:embeddedFont>
    <p:embeddedFont>
      <p:font typeface="Ouma Devanagar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g"/><Relationship Id="rId5" Type="http://schemas.openxmlformats.org/officeDocument/2006/relationships/image" Target="../media/image26.jfif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12" Type="http://schemas.openxmlformats.org/officeDocument/2006/relationships/image" Target="../media/image52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21.svg"/><Relationship Id="rId5" Type="http://schemas.openxmlformats.org/officeDocument/2006/relationships/image" Target="../media/image47.svg"/><Relationship Id="rId10" Type="http://schemas.openxmlformats.org/officeDocument/2006/relationships/image" Target="../media/image20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r="-5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28700" y="2393936"/>
            <a:ext cx="722369" cy="1094498"/>
          </a:xfrm>
          <a:custGeom>
            <a:avLst/>
            <a:gdLst/>
            <a:ahLst/>
            <a:cxnLst/>
            <a:rect l="l" t="t" r="r" b="b"/>
            <a:pathLst>
              <a:path w="722369" h="1094498">
                <a:moveTo>
                  <a:pt x="0" y="0"/>
                </a:moveTo>
                <a:lnTo>
                  <a:pt x="722369" y="0"/>
                </a:lnTo>
                <a:lnTo>
                  <a:pt x="722369" y="1094499"/>
                </a:lnTo>
                <a:lnTo>
                  <a:pt x="0" y="1094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1136506" y="9244012"/>
            <a:ext cx="16122794" cy="14288"/>
          </a:xfrm>
          <a:prstGeom prst="line">
            <a:avLst/>
          </a:prstGeom>
          <a:ln w="28575" cap="flat">
            <a:solidFill>
              <a:srgbClr val="1B51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5925470" y="783006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028700" y="783006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4068059" y="981075"/>
            <a:ext cx="10151881" cy="113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72"/>
              </a:lnSpc>
            </a:pPr>
            <a:r>
              <a:rPr lang="en-US" sz="7200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ARRUDA SERVIÇOS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2884" y="2559128"/>
            <a:ext cx="5247898" cy="67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60"/>
              </a:lnSpc>
              <a:spcBef>
                <a:spcPct val="0"/>
              </a:spcBef>
            </a:pPr>
            <a:r>
              <a:rPr lang="en-US" sz="3971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QUEM SOMOS?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2603" y="3774185"/>
            <a:ext cx="16122794" cy="523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08"/>
              </a:lnSpc>
              <a:spcBef>
                <a:spcPct val="0"/>
              </a:spcBef>
            </a:pPr>
            <a:r>
              <a:rPr lang="en-US" sz="320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A Arruda é uma empresa especializada na prestação de serviços e possui uma esfera de atuação que compreende a macro atuação nos segmentos ambiental, florestal e de infraestrutura. Sediada em Ouvidor GO, foi fundada em 18 de junho de 2001, desde então vem trabalhando com comprometimento, responsabilidade e respeito aos seus clientes, empregados e fornecedores. Fazem parte do nosso time, profissionais que acreditam que a responsabilidade social e ambiental são fatores essenciais para o sucesso do desenvolvimento econômico. Portanto, oferecemos uma nova metodologia de trabalho, embasada nos mais modernos padrões de qualidade, segurança e profundo respeito ao meio ambiente. Investimos na modernização de nossas atividades, através da melhoria contínua dos padrões operacionais, desenvolvimento de tecnologias e constante aprimoramento profissional de nossos empregados.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DC6A-A2B2-5533-04CD-8BF44905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2DE1B0-CE07-6993-9DF1-A826440B71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r="-5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6884C7B-B8C9-3E8B-2371-6C0C4FC93440}"/>
              </a:ext>
            </a:extLst>
          </p:cNvPr>
          <p:cNvSpPr/>
          <p:nvPr/>
        </p:nvSpPr>
        <p:spPr>
          <a:xfrm>
            <a:off x="1028700" y="2393936"/>
            <a:ext cx="722369" cy="1094498"/>
          </a:xfrm>
          <a:custGeom>
            <a:avLst/>
            <a:gdLst/>
            <a:ahLst/>
            <a:cxnLst/>
            <a:rect l="l" t="t" r="r" b="b"/>
            <a:pathLst>
              <a:path w="722369" h="1094498">
                <a:moveTo>
                  <a:pt x="0" y="0"/>
                </a:moveTo>
                <a:lnTo>
                  <a:pt x="722369" y="0"/>
                </a:lnTo>
                <a:lnTo>
                  <a:pt x="722369" y="1094499"/>
                </a:lnTo>
                <a:lnTo>
                  <a:pt x="0" y="1094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AE46B75-8C1A-D41C-6635-8D0BE93BC6E3}"/>
              </a:ext>
            </a:extLst>
          </p:cNvPr>
          <p:cNvSpPr/>
          <p:nvPr/>
        </p:nvSpPr>
        <p:spPr>
          <a:xfrm>
            <a:off x="1136506" y="9244012"/>
            <a:ext cx="16122794" cy="14288"/>
          </a:xfrm>
          <a:prstGeom prst="line">
            <a:avLst/>
          </a:prstGeom>
          <a:ln w="28575" cap="flat">
            <a:solidFill>
              <a:srgbClr val="1B51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ED7E894-7519-1106-C247-6260FC2EACDA}"/>
              </a:ext>
            </a:extLst>
          </p:cNvPr>
          <p:cNvSpPr/>
          <p:nvPr/>
        </p:nvSpPr>
        <p:spPr>
          <a:xfrm>
            <a:off x="15925470" y="783006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8516A-1D5C-4E4B-D5DC-6198A95309BC}"/>
              </a:ext>
            </a:extLst>
          </p:cNvPr>
          <p:cNvSpPr/>
          <p:nvPr/>
        </p:nvSpPr>
        <p:spPr>
          <a:xfrm>
            <a:off x="1028700" y="783006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E3B55D-C0BE-DEEC-D80B-57D6EC820231}"/>
              </a:ext>
            </a:extLst>
          </p:cNvPr>
          <p:cNvSpPr txBox="1"/>
          <p:nvPr/>
        </p:nvSpPr>
        <p:spPr>
          <a:xfrm>
            <a:off x="4068059" y="981075"/>
            <a:ext cx="10151881" cy="113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72"/>
              </a:lnSpc>
            </a:pPr>
            <a:r>
              <a:rPr lang="en-US" sz="7200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ARRUDA SERVIÇOS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4FCC15E-4BCE-9FF2-EA1D-CCE0D8661EAE}"/>
              </a:ext>
            </a:extLst>
          </p:cNvPr>
          <p:cNvSpPr txBox="1"/>
          <p:nvPr/>
        </p:nvSpPr>
        <p:spPr>
          <a:xfrm>
            <a:off x="2062884" y="2559128"/>
            <a:ext cx="5247898" cy="67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60"/>
              </a:lnSpc>
              <a:spcBef>
                <a:spcPct val="0"/>
              </a:spcBef>
            </a:pPr>
            <a:r>
              <a:rPr lang="en-US" sz="3971" b="1" dirty="0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QUEM SOMOS?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5D420A-EA4A-965C-26A0-9A08C49DB7A6}"/>
              </a:ext>
            </a:extLst>
          </p:cNvPr>
          <p:cNvSpPr txBox="1"/>
          <p:nvPr/>
        </p:nvSpPr>
        <p:spPr>
          <a:xfrm>
            <a:off x="1082602" y="3488434"/>
            <a:ext cx="16122794" cy="58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808"/>
              </a:lnSpc>
              <a:spcBef>
                <a:spcPct val="0"/>
              </a:spcBef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O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grupo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Arruda, é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formado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por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3 CNPJ’s:</a:t>
            </a:r>
          </a:p>
          <a:p>
            <a:pPr marL="514350" lvl="0" indent="-514350" algn="just">
              <a:lnSpc>
                <a:spcPts val="3808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Serviços e Transportes;</a:t>
            </a:r>
          </a:p>
          <a:p>
            <a:pPr marL="514350" lvl="0" indent="-514350" algn="just">
              <a:lnSpc>
                <a:spcPts val="3808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Serviços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Florestais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marL="514350" lvl="0" indent="-514350" algn="just">
              <a:lnSpc>
                <a:spcPts val="3808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Serviços e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Locações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.</a:t>
            </a:r>
          </a:p>
          <a:p>
            <a:pPr marL="514350" lvl="0" indent="-514350" algn="just">
              <a:lnSpc>
                <a:spcPts val="3808"/>
              </a:lnSpc>
              <a:spcBef>
                <a:spcPct val="0"/>
              </a:spcBef>
              <a:buFont typeface="+mj-lt"/>
              <a:buAutoNum type="arabicPeriod"/>
            </a:pPr>
            <a:endParaRPr lang="en-US" sz="3200" dirty="0">
              <a:solidFill>
                <a:srgbClr val="1B512D"/>
              </a:solidFill>
              <a:latin typeface="Livvic"/>
              <a:ea typeface="Livvic"/>
              <a:cs typeface="Livvic"/>
              <a:sym typeface="Livvic"/>
            </a:endParaRPr>
          </a:p>
          <a:p>
            <a:pPr lvl="0" algn="just">
              <a:lnSpc>
                <a:spcPts val="3808"/>
              </a:lnSpc>
              <a:spcBef>
                <a:spcPct val="0"/>
              </a:spcBef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Estamos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em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:</a:t>
            </a:r>
          </a:p>
          <a:p>
            <a:pPr marL="457200" lvl="0" indent="-457200" algn="just">
              <a:lnSpc>
                <a:spcPts val="380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Matriz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: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Ouvidor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-GO;</a:t>
            </a:r>
          </a:p>
          <a:p>
            <a:pPr marL="457200" lvl="0" indent="-457200" algn="just">
              <a:lnSpc>
                <a:spcPts val="380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Filial: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Araxá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-MG.</a:t>
            </a:r>
          </a:p>
          <a:p>
            <a:pPr marL="457200" lvl="0" indent="-457200" algn="just">
              <a:lnSpc>
                <a:spcPts val="380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B512D"/>
              </a:solidFill>
              <a:latin typeface="Livvic"/>
              <a:ea typeface="Livvic"/>
              <a:cs typeface="Livvic"/>
              <a:sym typeface="Livvic"/>
            </a:endParaRPr>
          </a:p>
          <a:p>
            <a:pPr lvl="0" algn="just">
              <a:lnSpc>
                <a:spcPts val="3808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Atuamos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principalmente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3200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em</a:t>
            </a: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:</a:t>
            </a:r>
          </a:p>
          <a:p>
            <a:pPr marL="457200" lvl="0" indent="-457200" algn="just">
              <a:lnSpc>
                <a:spcPts val="380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Goiás;</a:t>
            </a:r>
          </a:p>
          <a:p>
            <a:pPr marL="457200" lvl="0" indent="-457200" algn="just">
              <a:lnSpc>
                <a:spcPts val="3808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Minas Gerais.</a:t>
            </a:r>
          </a:p>
        </p:txBody>
      </p:sp>
    </p:spTree>
    <p:extLst>
      <p:ext uri="{BB962C8B-B14F-4D97-AF65-F5344CB8AC3E}">
        <p14:creationId xmlns:p14="http://schemas.microsoft.com/office/powerpoint/2010/main" val="344286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36493" y="9930985"/>
            <a:ext cx="16122794" cy="14288"/>
          </a:xfrm>
          <a:prstGeom prst="line">
            <a:avLst/>
          </a:prstGeom>
          <a:ln w="28575" cap="flat">
            <a:solidFill>
              <a:srgbClr val="1B51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5925470" y="783006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028700" y="783006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3359834" y="7707192"/>
            <a:ext cx="1720214" cy="1712568"/>
          </a:xfrm>
          <a:custGeom>
            <a:avLst/>
            <a:gdLst/>
            <a:ahLst/>
            <a:cxnLst/>
            <a:rect l="l" t="t" r="r" b="b"/>
            <a:pathLst>
              <a:path w="1720214" h="1712568">
                <a:moveTo>
                  <a:pt x="0" y="0"/>
                </a:moveTo>
                <a:lnTo>
                  <a:pt x="1720213" y="0"/>
                </a:lnTo>
                <a:lnTo>
                  <a:pt x="1720213" y="1712568"/>
                </a:lnTo>
                <a:lnTo>
                  <a:pt x="0" y="1712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954599" y="7624577"/>
            <a:ext cx="3912872" cy="1795183"/>
          </a:xfrm>
          <a:custGeom>
            <a:avLst/>
            <a:gdLst/>
            <a:ahLst/>
            <a:cxnLst/>
            <a:rect l="l" t="t" r="r" b="b"/>
            <a:pathLst>
              <a:path w="3912872" h="1795183">
                <a:moveTo>
                  <a:pt x="0" y="0"/>
                </a:moveTo>
                <a:lnTo>
                  <a:pt x="3912872" y="0"/>
                </a:lnTo>
                <a:lnTo>
                  <a:pt x="3912872" y="1795183"/>
                </a:lnTo>
                <a:lnTo>
                  <a:pt x="0" y="1795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4544" b="-6342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1805642" y="5596602"/>
            <a:ext cx="5807516" cy="1952925"/>
          </a:xfrm>
          <a:custGeom>
            <a:avLst/>
            <a:gdLst/>
            <a:ahLst/>
            <a:cxnLst/>
            <a:rect l="l" t="t" r="r" b="b"/>
            <a:pathLst>
              <a:path w="5807516" h="1952925">
                <a:moveTo>
                  <a:pt x="0" y="0"/>
                </a:moveTo>
                <a:lnTo>
                  <a:pt x="5807517" y="0"/>
                </a:lnTo>
                <a:lnTo>
                  <a:pt x="5807517" y="1952924"/>
                </a:lnTo>
                <a:lnTo>
                  <a:pt x="0" y="195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7563" b="-2952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579047" y="2582364"/>
            <a:ext cx="5127042" cy="1151412"/>
          </a:xfrm>
          <a:custGeom>
            <a:avLst/>
            <a:gdLst/>
            <a:ahLst/>
            <a:cxnLst/>
            <a:rect l="l" t="t" r="r" b="b"/>
            <a:pathLst>
              <a:path w="5127042" h="1151412">
                <a:moveTo>
                  <a:pt x="0" y="0"/>
                </a:moveTo>
                <a:lnTo>
                  <a:pt x="5127042" y="0"/>
                </a:lnTo>
                <a:lnTo>
                  <a:pt x="5127042" y="1151412"/>
                </a:lnTo>
                <a:lnTo>
                  <a:pt x="0" y="11514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7052250" y="2425032"/>
            <a:ext cx="3802131" cy="1466076"/>
          </a:xfrm>
          <a:custGeom>
            <a:avLst/>
            <a:gdLst/>
            <a:ahLst/>
            <a:cxnLst/>
            <a:rect l="l" t="t" r="r" b="b"/>
            <a:pathLst>
              <a:path w="3802131" h="1466076">
                <a:moveTo>
                  <a:pt x="0" y="0"/>
                </a:moveTo>
                <a:lnTo>
                  <a:pt x="3802132" y="0"/>
                </a:lnTo>
                <a:lnTo>
                  <a:pt x="3802132" y="1466076"/>
                </a:lnTo>
                <a:lnTo>
                  <a:pt x="0" y="14660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1197282" y="2425032"/>
            <a:ext cx="5734576" cy="1457943"/>
          </a:xfrm>
          <a:custGeom>
            <a:avLst/>
            <a:gdLst/>
            <a:ahLst/>
            <a:cxnLst/>
            <a:rect l="l" t="t" r="r" b="b"/>
            <a:pathLst>
              <a:path w="5734576" h="1457943">
                <a:moveTo>
                  <a:pt x="0" y="0"/>
                </a:moveTo>
                <a:lnTo>
                  <a:pt x="5734575" y="0"/>
                </a:lnTo>
                <a:lnTo>
                  <a:pt x="5734575" y="1457943"/>
                </a:lnTo>
                <a:lnTo>
                  <a:pt x="0" y="14579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20555" y="3967139"/>
            <a:ext cx="5095009" cy="1521392"/>
          </a:xfrm>
          <a:custGeom>
            <a:avLst/>
            <a:gdLst/>
            <a:ahLst/>
            <a:cxnLst/>
            <a:rect l="l" t="t" r="r" b="b"/>
            <a:pathLst>
              <a:path w="5095009" h="1521392">
                <a:moveTo>
                  <a:pt x="0" y="0"/>
                </a:moveTo>
                <a:lnTo>
                  <a:pt x="5095009" y="0"/>
                </a:lnTo>
                <a:lnTo>
                  <a:pt x="5095009" y="1521391"/>
                </a:lnTo>
                <a:lnTo>
                  <a:pt x="0" y="1521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8178" b="-1798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6615564" y="4195908"/>
            <a:ext cx="5093903" cy="1124656"/>
          </a:xfrm>
          <a:custGeom>
            <a:avLst/>
            <a:gdLst/>
            <a:ahLst/>
            <a:cxnLst/>
            <a:rect l="l" t="t" r="r" b="b"/>
            <a:pathLst>
              <a:path w="5093903" h="1124656">
                <a:moveTo>
                  <a:pt x="0" y="0"/>
                </a:moveTo>
                <a:lnTo>
                  <a:pt x="5093904" y="0"/>
                </a:lnTo>
                <a:lnTo>
                  <a:pt x="5093904" y="1124656"/>
                </a:lnTo>
                <a:lnTo>
                  <a:pt x="0" y="11246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3873" b="-2925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/>
          <p:cNvSpPr/>
          <p:nvPr/>
        </p:nvSpPr>
        <p:spPr>
          <a:xfrm>
            <a:off x="12679712" y="4048414"/>
            <a:ext cx="4059376" cy="1419644"/>
          </a:xfrm>
          <a:custGeom>
            <a:avLst/>
            <a:gdLst/>
            <a:ahLst/>
            <a:cxnLst/>
            <a:rect l="l" t="t" r="r" b="b"/>
            <a:pathLst>
              <a:path w="4059376" h="1419644">
                <a:moveTo>
                  <a:pt x="0" y="0"/>
                </a:moveTo>
                <a:lnTo>
                  <a:pt x="4059377" y="0"/>
                </a:lnTo>
                <a:lnTo>
                  <a:pt x="4059377" y="1419644"/>
                </a:lnTo>
                <a:lnTo>
                  <a:pt x="0" y="1419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33532" b="-3283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1883514" y="5797711"/>
            <a:ext cx="4518107" cy="1550706"/>
          </a:xfrm>
          <a:custGeom>
            <a:avLst/>
            <a:gdLst/>
            <a:ahLst/>
            <a:cxnLst/>
            <a:rect l="l" t="t" r="r" b="b"/>
            <a:pathLst>
              <a:path w="4518107" h="1550706">
                <a:moveTo>
                  <a:pt x="0" y="0"/>
                </a:moveTo>
                <a:lnTo>
                  <a:pt x="4518107" y="0"/>
                </a:lnTo>
                <a:lnTo>
                  <a:pt x="4518107" y="1550706"/>
                </a:lnTo>
                <a:lnTo>
                  <a:pt x="0" y="15507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7009982" y="6166652"/>
            <a:ext cx="4795660" cy="812824"/>
          </a:xfrm>
          <a:custGeom>
            <a:avLst/>
            <a:gdLst/>
            <a:ahLst/>
            <a:cxnLst/>
            <a:rect l="l" t="t" r="r" b="b"/>
            <a:pathLst>
              <a:path w="4795660" h="812824">
                <a:moveTo>
                  <a:pt x="0" y="0"/>
                </a:moveTo>
                <a:lnTo>
                  <a:pt x="4795660" y="0"/>
                </a:lnTo>
                <a:lnTo>
                  <a:pt x="4795660" y="812824"/>
                </a:lnTo>
                <a:lnTo>
                  <a:pt x="0" y="81282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7100418" y="7627352"/>
            <a:ext cx="4609050" cy="1792408"/>
          </a:xfrm>
          <a:custGeom>
            <a:avLst/>
            <a:gdLst/>
            <a:ahLst/>
            <a:cxnLst/>
            <a:rect l="l" t="t" r="r" b="b"/>
            <a:pathLst>
              <a:path w="4609050" h="1792408">
                <a:moveTo>
                  <a:pt x="0" y="0"/>
                </a:moveTo>
                <a:lnTo>
                  <a:pt x="4609050" y="0"/>
                </a:lnTo>
                <a:lnTo>
                  <a:pt x="4609050" y="1792408"/>
                </a:lnTo>
                <a:lnTo>
                  <a:pt x="0" y="179240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TextBox 17"/>
          <p:cNvSpPr txBox="1"/>
          <p:nvPr/>
        </p:nvSpPr>
        <p:spPr>
          <a:xfrm>
            <a:off x="4068059" y="981075"/>
            <a:ext cx="10151881" cy="113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72"/>
              </a:lnSpc>
            </a:pPr>
            <a:r>
              <a:rPr lang="en-US" sz="7200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ARRUDA SERVIÇOS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98548"/>
            <a:ext cx="3494854" cy="980920"/>
            <a:chOff x="0" y="0"/>
            <a:chExt cx="6909363" cy="1939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1B512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270108" y="2698548"/>
            <a:ext cx="3494854" cy="980920"/>
            <a:chOff x="0" y="0"/>
            <a:chExt cx="6909363" cy="19392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1B512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17277" y="2698548"/>
            <a:ext cx="6721715" cy="980920"/>
            <a:chOff x="0" y="0"/>
            <a:chExt cx="13288902" cy="1939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88902" cy="1939290"/>
            </a:xfrm>
            <a:custGeom>
              <a:avLst/>
              <a:gdLst/>
              <a:ahLst/>
              <a:cxnLst/>
              <a:rect l="l" t="t" r="r" b="b"/>
              <a:pathLst>
                <a:path w="13288902" h="1939290">
                  <a:moveTo>
                    <a:pt x="12319257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12319257" y="1939290"/>
                  </a:lnTo>
                  <a:cubicBezTo>
                    <a:pt x="12853927" y="1939290"/>
                    <a:pt x="13288902" y="1504315"/>
                    <a:pt x="13288902" y="969645"/>
                  </a:cubicBezTo>
                  <a:cubicBezTo>
                    <a:pt x="13288902" y="434975"/>
                    <a:pt x="12853927" y="0"/>
                    <a:pt x="12319257" y="0"/>
                  </a:cubicBezTo>
                  <a:close/>
                  <a:moveTo>
                    <a:pt x="12319257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12319257" y="25400"/>
                  </a:lnTo>
                  <a:cubicBezTo>
                    <a:pt x="12839957" y="25400"/>
                    <a:pt x="13263502" y="448945"/>
                    <a:pt x="13263502" y="969645"/>
                  </a:cubicBezTo>
                  <a:cubicBezTo>
                    <a:pt x="13263502" y="1490345"/>
                    <a:pt x="12839957" y="1913890"/>
                    <a:pt x="12319257" y="1913890"/>
                  </a:cubicBezTo>
                  <a:close/>
                </a:path>
              </a:pathLst>
            </a:custGeom>
            <a:solidFill>
              <a:srgbClr val="1B512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AutoShape 8"/>
          <p:cNvSpPr/>
          <p:nvPr/>
        </p:nvSpPr>
        <p:spPr>
          <a:xfrm>
            <a:off x="4350627" y="3169959"/>
            <a:ext cx="1099947" cy="0"/>
          </a:xfrm>
          <a:prstGeom prst="line">
            <a:avLst/>
          </a:prstGeom>
          <a:ln w="38100" cap="flat">
            <a:solidFill>
              <a:srgbClr val="1B512D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9" name="AutoShape 9"/>
          <p:cNvSpPr/>
          <p:nvPr/>
        </p:nvSpPr>
        <p:spPr>
          <a:xfrm>
            <a:off x="8594026" y="3189009"/>
            <a:ext cx="1099947" cy="0"/>
          </a:xfrm>
          <a:prstGeom prst="line">
            <a:avLst/>
          </a:prstGeom>
          <a:ln w="38100" cap="flat">
            <a:solidFill>
              <a:srgbClr val="1B512D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5572077" y="586199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1382093" y="586199"/>
            <a:ext cx="1333830" cy="1333830"/>
          </a:xfrm>
          <a:custGeom>
            <a:avLst/>
            <a:gdLst/>
            <a:ahLst/>
            <a:cxnLst/>
            <a:rect l="l" t="t" r="r" b="b"/>
            <a:pathLst>
              <a:path w="1333830" h="1333830">
                <a:moveTo>
                  <a:pt x="0" y="0"/>
                </a:moveTo>
                <a:lnTo>
                  <a:pt x="1333830" y="0"/>
                </a:lnTo>
                <a:lnTo>
                  <a:pt x="1333830" y="1333830"/>
                </a:lnTo>
                <a:lnTo>
                  <a:pt x="0" y="133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/>
          <p:cNvSpPr/>
          <p:nvPr/>
        </p:nvSpPr>
        <p:spPr>
          <a:xfrm>
            <a:off x="0" y="6841986"/>
            <a:ext cx="18288000" cy="3445014"/>
          </a:xfrm>
          <a:custGeom>
            <a:avLst/>
            <a:gdLst/>
            <a:ahLst/>
            <a:cxnLst/>
            <a:rect l="l" t="t" r="r" b="b"/>
            <a:pathLst>
              <a:path w="18288000" h="3445014">
                <a:moveTo>
                  <a:pt x="0" y="0"/>
                </a:moveTo>
                <a:lnTo>
                  <a:pt x="18288000" y="0"/>
                </a:lnTo>
                <a:lnTo>
                  <a:pt x="18288000" y="3445014"/>
                </a:lnTo>
                <a:lnTo>
                  <a:pt x="0" y="3445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9070" b="-1490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0" y="6841986"/>
            <a:ext cx="18288000" cy="4035444"/>
          </a:xfrm>
          <a:custGeom>
            <a:avLst/>
            <a:gdLst/>
            <a:ahLst/>
            <a:cxnLst/>
            <a:rect l="l" t="t" r="r" b="b"/>
            <a:pathLst>
              <a:path w="18288000" h="4035444">
                <a:moveTo>
                  <a:pt x="0" y="0"/>
                </a:moveTo>
                <a:lnTo>
                  <a:pt x="18288000" y="0"/>
                </a:lnTo>
                <a:lnTo>
                  <a:pt x="18288000" y="4035444"/>
                </a:lnTo>
                <a:lnTo>
                  <a:pt x="0" y="403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5754" b="-891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2776127" y="409575"/>
            <a:ext cx="12735228" cy="227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72"/>
              </a:lnSpc>
            </a:pPr>
            <a:r>
              <a:rPr lang="en-US" sz="7200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ESTRUTURA ORGANIZACIONAL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2093" y="2768112"/>
            <a:ext cx="2788068" cy="727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3"/>
              </a:lnSpc>
              <a:spcBef>
                <a:spcPct val="0"/>
              </a:spcBef>
            </a:pPr>
            <a:r>
              <a:rPr lang="en-US" sz="4115" b="1">
                <a:solidFill>
                  <a:srgbClr val="1B512D"/>
                </a:solidFill>
                <a:latin typeface="Livvic Bold"/>
                <a:ea typeface="Livvic Bold"/>
                <a:cs typeface="Livvic Bold"/>
                <a:sym typeface="Livvic Bold"/>
              </a:rPr>
              <a:t>EQUIPE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194739"/>
            <a:ext cx="3493817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  <a:spcBef>
                <a:spcPct val="0"/>
              </a:spcBef>
            </a:pPr>
            <a:r>
              <a:rPr lang="pt-BR" sz="2100" b="0" i="0" dirty="0">
                <a:solidFill>
                  <a:srgbClr val="1B512D"/>
                </a:solidFill>
                <a:effectLst/>
                <a:latin typeface="Livvic" pitchFamily="2" charset="0"/>
              </a:rPr>
              <a:t>Equipes de trabalho, subdivididas em equipes de engenharia, planejamento, controladoria, supervisão, EHS, manutenção e operação, totalizando aproximadamente 180 empregados;</a:t>
            </a:r>
            <a:endParaRPr lang="en-US" sz="2100" dirty="0">
              <a:solidFill>
                <a:srgbClr val="1B512D"/>
              </a:solidFill>
              <a:latin typeface="Livvic" pitchFamily="2" charset="0"/>
              <a:ea typeface="Livvic"/>
              <a:cs typeface="Livvic"/>
              <a:sym typeface="Livvic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623501" y="2768112"/>
            <a:ext cx="2788068" cy="727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3"/>
              </a:lnSpc>
              <a:spcBef>
                <a:spcPct val="0"/>
              </a:spcBef>
            </a:pPr>
            <a:r>
              <a:rPr lang="en-US" sz="4115" b="1">
                <a:solidFill>
                  <a:srgbClr val="1B512D"/>
                </a:solidFill>
                <a:latin typeface="Livvic Bold"/>
                <a:ea typeface="Livvic Bold"/>
                <a:cs typeface="Livvic Bold"/>
                <a:sym typeface="Livvic Bold"/>
              </a:rPr>
              <a:t>FROTA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70108" y="4194739"/>
            <a:ext cx="3493817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  <a:spcBef>
                <a:spcPct val="0"/>
              </a:spcBef>
            </a:pPr>
            <a:r>
              <a:rPr lang="pt-BR" sz="2100" b="0" i="0" dirty="0">
                <a:solidFill>
                  <a:srgbClr val="1B512D"/>
                </a:solidFill>
                <a:effectLst/>
                <a:latin typeface="Livvic" pitchFamily="2" charset="0"/>
              </a:rPr>
              <a:t>Frota, envolvendo veículos leves, veículos pesados, máquinas, equipamentos e implementos, variando entre 80 e 120 itens de acordo com demanda anual;</a:t>
            </a:r>
            <a:endParaRPr lang="en-US" sz="2100" dirty="0">
              <a:solidFill>
                <a:srgbClr val="1B512D"/>
              </a:solidFill>
              <a:latin typeface="Livvic" pitchFamily="2" charset="0"/>
              <a:ea typeface="Livvic"/>
              <a:cs typeface="Livvic"/>
              <a:sym typeface="Livvic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70670" y="2768112"/>
            <a:ext cx="5984735" cy="727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73"/>
              </a:lnSpc>
              <a:spcBef>
                <a:spcPct val="0"/>
              </a:spcBef>
            </a:pPr>
            <a:r>
              <a:rPr lang="en-US" sz="4115" b="1">
                <a:solidFill>
                  <a:srgbClr val="1B512D"/>
                </a:solidFill>
                <a:latin typeface="Livvic Bold"/>
                <a:ea typeface="Livvic Bold"/>
                <a:cs typeface="Livvic Bold"/>
                <a:sym typeface="Livvic Bold"/>
              </a:rPr>
              <a:t>RAMOS DE ATUAÇÃO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17277" y="4194739"/>
            <a:ext cx="6721715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  <a:spcBef>
                <a:spcPct val="0"/>
              </a:spcBef>
            </a:pP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A Arruda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tem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se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destacado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no mercado industrial (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mieradoras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,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siderúrgicas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,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cooperativas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,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fábricas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etc.)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porapresentar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alto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grau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modelagem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curto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prazo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aclimatação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para as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necessidades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nossos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clinetes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.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Oferecemos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maneira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concisa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,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ágil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e com a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melhor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relação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“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custo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x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benefício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” a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entrega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dos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escopos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pleiteados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pelos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clientes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, no tempo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determinado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 e da forma </a:t>
            </a:r>
            <a:r>
              <a:rPr lang="en-US" sz="2101" dirty="0" err="1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solicitada</a:t>
            </a:r>
            <a:r>
              <a:rPr lang="en-US" sz="2101" dirty="0">
                <a:solidFill>
                  <a:srgbClr val="1B512D"/>
                </a:solidFill>
                <a:latin typeface="Livvic"/>
                <a:ea typeface="Livvic"/>
                <a:cs typeface="Livvic"/>
                <a:sym typeface="Livvic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249775" y="5631327"/>
            <a:ext cx="0" cy="3403022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542422" y="2425434"/>
            <a:ext cx="806041" cy="806041"/>
          </a:xfrm>
          <a:custGeom>
            <a:avLst/>
            <a:gdLst/>
            <a:ahLst/>
            <a:cxnLst/>
            <a:rect l="l" t="t" r="r" b="b"/>
            <a:pathLst>
              <a:path w="806041" h="806041">
                <a:moveTo>
                  <a:pt x="0" y="0"/>
                </a:moveTo>
                <a:lnTo>
                  <a:pt x="806040" y="0"/>
                </a:lnTo>
                <a:lnTo>
                  <a:pt x="806040" y="806040"/>
                </a:lnTo>
                <a:lnTo>
                  <a:pt x="0" y="80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7254537" y="9034350"/>
            <a:ext cx="806041" cy="806041"/>
          </a:xfrm>
          <a:custGeom>
            <a:avLst/>
            <a:gdLst/>
            <a:ahLst/>
            <a:cxnLst/>
            <a:rect l="l" t="t" r="r" b="b"/>
            <a:pathLst>
              <a:path w="806041" h="806041">
                <a:moveTo>
                  <a:pt x="0" y="0"/>
                </a:moveTo>
                <a:lnTo>
                  <a:pt x="806041" y="0"/>
                </a:lnTo>
                <a:lnTo>
                  <a:pt x="806041" y="806040"/>
                </a:lnTo>
                <a:lnTo>
                  <a:pt x="0" y="80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542422" y="146673"/>
            <a:ext cx="7146246" cy="227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2"/>
              </a:lnSpc>
            </a:pPr>
            <a:r>
              <a:rPr lang="en-US" sz="7200" b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PROJETOS E RESP. TÉCNICA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3463" y="3492477"/>
            <a:ext cx="1622583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Manutenção</a:t>
            </a:r>
            <a:r>
              <a:rPr lang="en-US" sz="2799" b="1" dirty="0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 de </a:t>
            </a: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Barragens</a:t>
            </a:r>
            <a:r>
              <a:rPr lang="en-US" sz="2799" b="1" dirty="0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 e </a:t>
            </a: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Áreas</a:t>
            </a:r>
            <a:r>
              <a:rPr lang="en-US" sz="2799" b="1" dirty="0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 Verdes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2422" y="4184653"/>
            <a:ext cx="16716878" cy="500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Desde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2016;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Quase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10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anos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consecutivos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 de 20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milhões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m²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roçados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em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taludes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Linhas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vida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pontos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ancoragem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projetados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Integração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tecnologias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com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equipamentos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autonomos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remotos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,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nas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rotinas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trabalho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Soluções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Ambientais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para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manutenção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operação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barragens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Manutenção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conservação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estruturas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geotecnicas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.</a:t>
            </a:r>
          </a:p>
        </p:txBody>
      </p:sp>
      <p:pic>
        <p:nvPicPr>
          <p:cNvPr id="25" name="Imagem 24" descr="Caminhão parado na grama&#10;&#10;O conteúdo gerado por IA pode estar incorreto.">
            <a:extLst>
              <a:ext uri="{FF2B5EF4-FFF2-40B4-BE49-F238E27FC236}">
                <a16:creationId xmlns:a16="http://schemas.microsoft.com/office/drawing/2014/main" id="{7B89E56E-AF08-682E-9401-C6135796D9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784" y="811044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7" name="Imagem 26" descr="Homem em pé na grama&#10;&#10;O conteúdo gerado por IA pode estar incorreto.">
            <a:extLst>
              <a:ext uri="{FF2B5EF4-FFF2-40B4-BE49-F238E27FC236}">
                <a16:creationId xmlns:a16="http://schemas.microsoft.com/office/drawing/2014/main" id="{3E1B2B15-A53A-01CE-029A-8B2C015129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784" y="4015284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9" name="Imagem 28" descr="Homem andando na terra&#10;&#10;O conteúdo gerado por IA pode estar incorreto.">
            <a:extLst>
              <a:ext uri="{FF2B5EF4-FFF2-40B4-BE49-F238E27FC236}">
                <a16:creationId xmlns:a16="http://schemas.microsoft.com/office/drawing/2014/main" id="{EE896C22-1D5B-2D77-A6F2-01071B40D90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784" y="7363398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1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A66CC-C07E-1C21-73A1-6D66AC58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BD6EA58-01C9-00A6-D128-1C74AF36C87E}"/>
              </a:ext>
            </a:extLst>
          </p:cNvPr>
          <p:cNvSpPr/>
          <p:nvPr/>
        </p:nvSpPr>
        <p:spPr>
          <a:xfrm flipV="1">
            <a:off x="17249775" y="5631327"/>
            <a:ext cx="0" cy="3403022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701303-4F6D-586E-B83C-29B529626AFE}"/>
              </a:ext>
            </a:extLst>
          </p:cNvPr>
          <p:cNvSpPr/>
          <p:nvPr/>
        </p:nvSpPr>
        <p:spPr>
          <a:xfrm>
            <a:off x="542422" y="2425434"/>
            <a:ext cx="806041" cy="806041"/>
          </a:xfrm>
          <a:custGeom>
            <a:avLst/>
            <a:gdLst/>
            <a:ahLst/>
            <a:cxnLst/>
            <a:rect l="l" t="t" r="r" b="b"/>
            <a:pathLst>
              <a:path w="806041" h="806041">
                <a:moveTo>
                  <a:pt x="0" y="0"/>
                </a:moveTo>
                <a:lnTo>
                  <a:pt x="806040" y="0"/>
                </a:lnTo>
                <a:lnTo>
                  <a:pt x="806040" y="806040"/>
                </a:lnTo>
                <a:lnTo>
                  <a:pt x="0" y="80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C17E44C-3A75-BBDB-BC42-6CB94CE18886}"/>
              </a:ext>
            </a:extLst>
          </p:cNvPr>
          <p:cNvSpPr/>
          <p:nvPr/>
        </p:nvSpPr>
        <p:spPr>
          <a:xfrm>
            <a:off x="17254537" y="9034350"/>
            <a:ext cx="806041" cy="806041"/>
          </a:xfrm>
          <a:custGeom>
            <a:avLst/>
            <a:gdLst/>
            <a:ahLst/>
            <a:cxnLst/>
            <a:rect l="l" t="t" r="r" b="b"/>
            <a:pathLst>
              <a:path w="806041" h="806041">
                <a:moveTo>
                  <a:pt x="0" y="0"/>
                </a:moveTo>
                <a:lnTo>
                  <a:pt x="806041" y="0"/>
                </a:lnTo>
                <a:lnTo>
                  <a:pt x="806041" y="806040"/>
                </a:lnTo>
                <a:lnTo>
                  <a:pt x="0" y="80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FACEB61-907B-B4A1-FB0D-6CB87905B955}"/>
              </a:ext>
            </a:extLst>
          </p:cNvPr>
          <p:cNvSpPr txBox="1"/>
          <p:nvPr/>
        </p:nvSpPr>
        <p:spPr>
          <a:xfrm>
            <a:off x="542422" y="146673"/>
            <a:ext cx="7146246" cy="227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2"/>
              </a:lnSpc>
            </a:pPr>
            <a:r>
              <a:rPr lang="en-US" sz="7200" b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PROJETOS E RESP. TÉCNICA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257FC75-1A0D-1C07-1578-7840FC3AC366}"/>
              </a:ext>
            </a:extLst>
          </p:cNvPr>
          <p:cNvSpPr txBox="1"/>
          <p:nvPr/>
        </p:nvSpPr>
        <p:spPr>
          <a:xfrm>
            <a:off x="1033463" y="3492477"/>
            <a:ext cx="1622583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Gestão</a:t>
            </a:r>
            <a:r>
              <a:rPr lang="en-US" sz="2799" b="1" dirty="0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 </a:t>
            </a: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Fundiária</a:t>
            </a:r>
            <a:endParaRPr lang="en-US" sz="2799" b="1" dirty="0">
              <a:solidFill>
                <a:srgbClr val="FFFFFF"/>
              </a:solidFill>
              <a:latin typeface="Ouma Devanagari Bold"/>
              <a:ea typeface="Ouma Devanagari Bold"/>
              <a:cs typeface="Ouma Devanagari Bold"/>
              <a:sym typeface="Ouma Devanagari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312E584-8EF6-8327-BC37-F283AE2D8EA5}"/>
              </a:ext>
            </a:extLst>
          </p:cNvPr>
          <p:cNvSpPr txBox="1"/>
          <p:nvPr/>
        </p:nvSpPr>
        <p:spPr>
          <a:xfrm>
            <a:off x="542422" y="4184653"/>
            <a:ext cx="16716878" cy="500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Desde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2016;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Quase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10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anos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consecutivos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 de 80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propriedades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gerenciadas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Patrulha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Rural;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Interface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direta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com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comunitários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Construção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manutenção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20 mil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quilometros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aceiro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 de 40 mil metros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cercas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.</a:t>
            </a:r>
          </a:p>
        </p:txBody>
      </p:sp>
      <p:pic>
        <p:nvPicPr>
          <p:cNvPr id="6" name="Imagem 5" descr="Homem na floresta&#10;&#10;O conteúdo gerado por IA pode estar incorreto.">
            <a:extLst>
              <a:ext uri="{FF2B5EF4-FFF2-40B4-BE49-F238E27FC236}">
                <a16:creationId xmlns:a16="http://schemas.microsoft.com/office/drawing/2014/main" id="{4D864625-C4E9-1117-5FBB-09E50B3E79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5561" y="570915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Imagem 7" descr="Homem em campo de terra&#10;&#10;O conteúdo gerado por IA pode estar incorreto.">
            <a:extLst>
              <a:ext uri="{FF2B5EF4-FFF2-40B4-BE49-F238E27FC236}">
                <a16:creationId xmlns:a16="http://schemas.microsoft.com/office/drawing/2014/main" id="{C3F80517-B52C-7F89-FCC1-B9387B9E18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784" y="3918689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Imagem 9" descr="Pessoas na floresta&#10;&#10;O conteúdo gerado por IA pode estar incorreto.">
            <a:extLst>
              <a:ext uri="{FF2B5EF4-FFF2-40B4-BE49-F238E27FC236}">
                <a16:creationId xmlns:a16="http://schemas.microsoft.com/office/drawing/2014/main" id="{EF01C27F-A5FF-105C-F9AF-4291B087C3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784" y="7349200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3706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1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750A2-1C15-FDFE-E0DE-083B7872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BC26A2C-A85A-1273-06F9-610A493F0705}"/>
              </a:ext>
            </a:extLst>
          </p:cNvPr>
          <p:cNvSpPr/>
          <p:nvPr/>
        </p:nvSpPr>
        <p:spPr>
          <a:xfrm flipV="1">
            <a:off x="17249775" y="5631327"/>
            <a:ext cx="0" cy="3403022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51F74C-F7FB-062C-C3C0-7A7C11F76A5D}"/>
              </a:ext>
            </a:extLst>
          </p:cNvPr>
          <p:cNvSpPr/>
          <p:nvPr/>
        </p:nvSpPr>
        <p:spPr>
          <a:xfrm>
            <a:off x="542422" y="2425434"/>
            <a:ext cx="806041" cy="806041"/>
          </a:xfrm>
          <a:custGeom>
            <a:avLst/>
            <a:gdLst/>
            <a:ahLst/>
            <a:cxnLst/>
            <a:rect l="l" t="t" r="r" b="b"/>
            <a:pathLst>
              <a:path w="806041" h="806041">
                <a:moveTo>
                  <a:pt x="0" y="0"/>
                </a:moveTo>
                <a:lnTo>
                  <a:pt x="806040" y="0"/>
                </a:lnTo>
                <a:lnTo>
                  <a:pt x="806040" y="806040"/>
                </a:lnTo>
                <a:lnTo>
                  <a:pt x="0" y="80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61D4BF-A282-D34E-BA9C-B3A4C7852C8C}"/>
              </a:ext>
            </a:extLst>
          </p:cNvPr>
          <p:cNvSpPr/>
          <p:nvPr/>
        </p:nvSpPr>
        <p:spPr>
          <a:xfrm>
            <a:off x="17254537" y="9034350"/>
            <a:ext cx="806041" cy="806041"/>
          </a:xfrm>
          <a:custGeom>
            <a:avLst/>
            <a:gdLst/>
            <a:ahLst/>
            <a:cxnLst/>
            <a:rect l="l" t="t" r="r" b="b"/>
            <a:pathLst>
              <a:path w="806041" h="806041">
                <a:moveTo>
                  <a:pt x="0" y="0"/>
                </a:moveTo>
                <a:lnTo>
                  <a:pt x="806041" y="0"/>
                </a:lnTo>
                <a:lnTo>
                  <a:pt x="806041" y="806040"/>
                </a:lnTo>
                <a:lnTo>
                  <a:pt x="0" y="80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D810A62-FE9A-D4B4-46FB-7BDC17FDDC9C}"/>
              </a:ext>
            </a:extLst>
          </p:cNvPr>
          <p:cNvSpPr txBox="1"/>
          <p:nvPr/>
        </p:nvSpPr>
        <p:spPr>
          <a:xfrm>
            <a:off x="542422" y="146673"/>
            <a:ext cx="7146246" cy="227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2"/>
              </a:lnSpc>
            </a:pPr>
            <a:r>
              <a:rPr lang="en-US" sz="7200" b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PROJETOS E RESP. TÉCNICA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71A1ECA-F2A7-B826-5D1A-EBCEE5F46827}"/>
              </a:ext>
            </a:extLst>
          </p:cNvPr>
          <p:cNvSpPr txBox="1"/>
          <p:nvPr/>
        </p:nvSpPr>
        <p:spPr>
          <a:xfrm>
            <a:off x="1033463" y="3492477"/>
            <a:ext cx="1622583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Recuperação</a:t>
            </a:r>
            <a:r>
              <a:rPr lang="en-US" sz="2799" b="1" dirty="0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 de </a:t>
            </a: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Áreas</a:t>
            </a:r>
            <a:r>
              <a:rPr lang="en-US" sz="2799" b="1" dirty="0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 </a:t>
            </a:r>
            <a:r>
              <a:rPr lang="en-US" sz="2799" b="1" dirty="0" err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Degradadas</a:t>
            </a:r>
            <a:endParaRPr lang="en-US" sz="2799" b="1" dirty="0">
              <a:solidFill>
                <a:srgbClr val="FFFFFF"/>
              </a:solidFill>
              <a:latin typeface="Ouma Devanagari Bold"/>
              <a:ea typeface="Ouma Devanagari Bold"/>
              <a:cs typeface="Ouma Devanagari Bold"/>
              <a:sym typeface="Ouma Devanagari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80A18F9-7289-F935-8764-0E0020240D94}"/>
              </a:ext>
            </a:extLst>
          </p:cNvPr>
          <p:cNvSpPr txBox="1"/>
          <p:nvPr/>
        </p:nvSpPr>
        <p:spPr>
          <a:xfrm>
            <a:off x="542422" y="4184653"/>
            <a:ext cx="16716878" cy="5770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Desde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2015;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Plantios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Compensatórios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Restauração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Florestal;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Enriquecimento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 de 2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milhões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mudas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nativas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plantadas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algn="just">
              <a:lnSpc>
                <a:spcPts val="3017"/>
              </a:lnSpc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 de 1,8 mil hectares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reflorestados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algn="just">
              <a:lnSpc>
                <a:spcPts val="3017"/>
              </a:lnSpc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Mais de 10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milhões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mudas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de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eucalipto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plantadas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;</a:t>
            </a: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endParaRPr lang="en-US" sz="2535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0" indent="0" algn="just">
              <a:lnSpc>
                <a:spcPts val="3017"/>
              </a:lnSpc>
              <a:spcBef>
                <a:spcPct val="0"/>
              </a:spcBef>
            </a:pP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Plantios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irrigados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e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combates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  <a:r>
              <a:rPr lang="en-US" sz="2535" dirty="0" err="1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seletivos</a:t>
            </a:r>
            <a:r>
              <a:rPr lang="en-US" sz="2535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.</a:t>
            </a:r>
          </a:p>
        </p:txBody>
      </p:sp>
      <p:pic>
        <p:nvPicPr>
          <p:cNvPr id="7" name="Imagem 6" descr="Pessoas em campo de terra&#10;&#10;O conteúdo gerado por IA pode estar incorreto.">
            <a:extLst>
              <a:ext uri="{FF2B5EF4-FFF2-40B4-BE49-F238E27FC236}">
                <a16:creationId xmlns:a16="http://schemas.microsoft.com/office/drawing/2014/main" id="{0EE011DD-83DC-7898-A18A-9BC9D15889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784" y="382222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Imagem 13" descr="Gramado com árvores ao fundo&#10;&#10;O conteúdo gerado por IA pode estar incorreto.">
            <a:extLst>
              <a:ext uri="{FF2B5EF4-FFF2-40B4-BE49-F238E27FC236}">
                <a16:creationId xmlns:a16="http://schemas.microsoft.com/office/drawing/2014/main" id="{0A082147-DEF3-FB08-8975-293C191F93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4910" y="3748500"/>
            <a:ext cx="3720000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F4BFFA8-24C2-ECB2-E6B7-65B4561A27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4910" y="7114778"/>
            <a:ext cx="3719997" cy="279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20892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21640800" cy="109728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0475" b="20475"/>
            <a:stretch>
              <a:fillRect/>
            </a:stretch>
          </p:blipFill>
          <p:spPr>
            <a:xfrm>
              <a:off x="0" y="0"/>
              <a:ext cx="10756900" cy="3572933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20475" b="20475"/>
            <a:stretch>
              <a:fillRect/>
            </a:stretch>
          </p:blipFill>
          <p:spPr>
            <a:xfrm>
              <a:off x="10883900" y="0"/>
              <a:ext cx="10756900" cy="357293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35324" b="35324"/>
            <a:stretch>
              <a:fillRect/>
            </a:stretch>
          </p:blipFill>
          <p:spPr>
            <a:xfrm>
              <a:off x="0" y="3699933"/>
              <a:ext cx="21640800" cy="357293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t="20475" b="20475"/>
            <a:stretch>
              <a:fillRect/>
            </a:stretch>
          </p:blipFill>
          <p:spPr>
            <a:xfrm>
              <a:off x="0" y="7399867"/>
              <a:ext cx="10756900" cy="3572933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t="20475" b="20475"/>
            <a:stretch>
              <a:fillRect/>
            </a:stretch>
          </p:blipFill>
          <p:spPr>
            <a:xfrm>
              <a:off x="10883900" y="7399867"/>
              <a:ext cx="10756900" cy="3572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21640800" cy="109728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7856" b="27856"/>
            <a:stretch>
              <a:fillRect/>
            </a:stretch>
          </p:blipFill>
          <p:spPr>
            <a:xfrm>
              <a:off x="0" y="0"/>
              <a:ext cx="10756900" cy="3572933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20475" b="20475"/>
            <a:stretch>
              <a:fillRect/>
            </a:stretch>
          </p:blipFill>
          <p:spPr>
            <a:xfrm>
              <a:off x="10883900" y="0"/>
              <a:ext cx="10756900" cy="357293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35324" b="35324"/>
            <a:stretch>
              <a:fillRect/>
            </a:stretch>
          </p:blipFill>
          <p:spPr>
            <a:xfrm>
              <a:off x="0" y="3699933"/>
              <a:ext cx="21640800" cy="3572933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t="27856" b="27856"/>
            <a:stretch>
              <a:fillRect/>
            </a:stretch>
          </p:blipFill>
          <p:spPr>
            <a:xfrm>
              <a:off x="0" y="7399867"/>
              <a:ext cx="10756900" cy="3572933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rcRect t="20475" b="20475"/>
            <a:stretch>
              <a:fillRect/>
            </a:stretch>
          </p:blipFill>
          <p:spPr>
            <a:xfrm>
              <a:off x="10883900" y="7399867"/>
              <a:ext cx="10756900" cy="3572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623060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40"/>
              </a:lnSpc>
              <a:spcBef>
                <a:spcPct val="0"/>
              </a:spcBef>
            </a:pPr>
            <a:r>
              <a:rPr lang="en-US" sz="9200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TIME GERENCIAL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64973" y="3047873"/>
            <a:ext cx="3506484" cy="3506470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188" b="-188"/>
              </a:stretch>
            </a:blipFill>
            <a:ln w="95250" cap="sq">
              <a:solidFill>
                <a:srgbClr val="1B512D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90758" y="3219277"/>
            <a:ext cx="3506484" cy="3506470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r="-33332"/>
              </a:stretch>
            </a:blipFill>
            <a:ln w="95250" cap="sq">
              <a:solidFill>
                <a:srgbClr val="1B512D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AutoShape 7"/>
          <p:cNvSpPr/>
          <p:nvPr/>
        </p:nvSpPr>
        <p:spPr>
          <a:xfrm>
            <a:off x="5897880" y="9244012"/>
            <a:ext cx="6492240" cy="0"/>
          </a:xfrm>
          <a:prstGeom prst="line">
            <a:avLst/>
          </a:prstGeom>
          <a:ln w="28575" cap="flat">
            <a:solidFill>
              <a:srgbClr val="1B51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6418983" y="-641946"/>
            <a:ext cx="2370734" cy="2370734"/>
          </a:xfrm>
          <a:custGeom>
            <a:avLst/>
            <a:gdLst/>
            <a:ahLst/>
            <a:cxnLst/>
            <a:rect l="l" t="t" r="r" b="b"/>
            <a:pathLst>
              <a:path w="2370734" h="2370734">
                <a:moveTo>
                  <a:pt x="0" y="0"/>
                </a:moveTo>
                <a:lnTo>
                  <a:pt x="2370734" y="0"/>
                </a:lnTo>
                <a:lnTo>
                  <a:pt x="2370734" y="2370734"/>
                </a:lnTo>
                <a:lnTo>
                  <a:pt x="0" y="237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14048249" y="1250622"/>
            <a:ext cx="1178253" cy="1178253"/>
          </a:xfrm>
          <a:custGeom>
            <a:avLst/>
            <a:gdLst/>
            <a:ahLst/>
            <a:cxnLst/>
            <a:rect l="l" t="t" r="r" b="b"/>
            <a:pathLst>
              <a:path w="1178253" h="1178253">
                <a:moveTo>
                  <a:pt x="0" y="0"/>
                </a:moveTo>
                <a:lnTo>
                  <a:pt x="1178253" y="0"/>
                </a:lnTo>
                <a:lnTo>
                  <a:pt x="1178253" y="1178253"/>
                </a:lnTo>
                <a:lnTo>
                  <a:pt x="0" y="117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869017" y="439573"/>
            <a:ext cx="1178253" cy="1178253"/>
          </a:xfrm>
          <a:custGeom>
            <a:avLst/>
            <a:gdLst/>
            <a:ahLst/>
            <a:cxnLst/>
            <a:rect l="l" t="t" r="r" b="b"/>
            <a:pathLst>
              <a:path w="1178253" h="1178253">
                <a:moveTo>
                  <a:pt x="0" y="0"/>
                </a:moveTo>
                <a:lnTo>
                  <a:pt x="1178253" y="0"/>
                </a:lnTo>
                <a:lnTo>
                  <a:pt x="1178253" y="1178254"/>
                </a:lnTo>
                <a:lnTo>
                  <a:pt x="0" y="117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12912498" y="3047873"/>
            <a:ext cx="3506484" cy="3506470"/>
            <a:chOff x="0" y="0"/>
            <a:chExt cx="6350000" cy="63499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95250" cap="sq">
              <a:solidFill>
                <a:srgbClr val="1B512D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1403" y="7125716"/>
            <a:ext cx="4393625" cy="60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28"/>
              </a:lnSpc>
              <a:spcBef>
                <a:spcPct val="0"/>
              </a:spcBef>
            </a:pPr>
            <a:r>
              <a:rPr lang="en-US" sz="3637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CLEITON ARRUDA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7208" y="7754830"/>
            <a:ext cx="3562016" cy="43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2"/>
              </a:lnSpc>
              <a:spcBef>
                <a:spcPct val="0"/>
              </a:spcBef>
            </a:pPr>
            <a:r>
              <a:rPr lang="en-US" sz="2594" b="1">
                <a:solidFill>
                  <a:srgbClr val="1B512D"/>
                </a:solidFill>
                <a:latin typeface="Livvic Bold"/>
                <a:ea typeface="Livvic Bold"/>
                <a:cs typeface="Livvic Bold"/>
                <a:sym typeface="Livvic Bold"/>
              </a:rPr>
              <a:t>Diretor Executivo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7188" y="7125716"/>
            <a:ext cx="4393625" cy="60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28"/>
              </a:lnSpc>
              <a:spcBef>
                <a:spcPct val="0"/>
              </a:spcBef>
            </a:pPr>
            <a:r>
              <a:rPr lang="en-US" sz="3637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IAGO REZENDE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48718" y="7720235"/>
            <a:ext cx="3190564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5"/>
              </a:lnSpc>
              <a:spcBef>
                <a:spcPct val="0"/>
              </a:spcBef>
            </a:pPr>
            <a:r>
              <a:rPr lang="en-US" sz="2589" b="1">
                <a:solidFill>
                  <a:srgbClr val="1B512D"/>
                </a:solidFill>
                <a:latin typeface="Livvic Bold"/>
                <a:ea typeface="Livvic Bold"/>
                <a:cs typeface="Livvic Bold"/>
                <a:sym typeface="Livvic Bold"/>
              </a:rPr>
              <a:t>Gerente de Operações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68928" y="7125716"/>
            <a:ext cx="4393625" cy="60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28"/>
              </a:lnSpc>
              <a:spcBef>
                <a:spcPct val="0"/>
              </a:spcBef>
            </a:pPr>
            <a:r>
              <a:rPr lang="en-US" sz="3637" b="1">
                <a:solidFill>
                  <a:srgbClr val="1B512D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RAQUEL COSTA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70459" y="7720235"/>
            <a:ext cx="3190564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6"/>
              </a:lnSpc>
              <a:spcBef>
                <a:spcPct val="0"/>
              </a:spcBef>
            </a:pPr>
            <a:r>
              <a:rPr lang="en-US" sz="2590" b="1">
                <a:solidFill>
                  <a:srgbClr val="1B512D"/>
                </a:solidFill>
                <a:latin typeface="Livvic Bold"/>
                <a:ea typeface="Livvic Bold"/>
                <a:cs typeface="Livvic Bold"/>
                <a:sym typeface="Livvic Bold"/>
              </a:rPr>
              <a:t>Gerente de Contratos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171105"/>
            <a:ext cx="489102" cy="489102"/>
          </a:xfrm>
          <a:custGeom>
            <a:avLst/>
            <a:gdLst/>
            <a:ahLst/>
            <a:cxnLst/>
            <a:rect l="l" t="t" r="r" b="b"/>
            <a:pathLst>
              <a:path w="489102" h="489102">
                <a:moveTo>
                  <a:pt x="0" y="0"/>
                </a:moveTo>
                <a:lnTo>
                  <a:pt x="489102" y="0"/>
                </a:lnTo>
                <a:lnTo>
                  <a:pt x="489102" y="489102"/>
                </a:lnTo>
                <a:lnTo>
                  <a:pt x="0" y="489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28700" y="5442687"/>
            <a:ext cx="489102" cy="489102"/>
          </a:xfrm>
          <a:custGeom>
            <a:avLst/>
            <a:gdLst/>
            <a:ahLst/>
            <a:cxnLst/>
            <a:rect l="l" t="t" r="r" b="b"/>
            <a:pathLst>
              <a:path w="489102" h="489102">
                <a:moveTo>
                  <a:pt x="0" y="0"/>
                </a:moveTo>
                <a:lnTo>
                  <a:pt x="489102" y="0"/>
                </a:lnTo>
                <a:lnTo>
                  <a:pt x="489102" y="489102"/>
                </a:lnTo>
                <a:lnTo>
                  <a:pt x="0" y="489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028700" y="6739128"/>
            <a:ext cx="489102" cy="489102"/>
          </a:xfrm>
          <a:custGeom>
            <a:avLst/>
            <a:gdLst/>
            <a:ahLst/>
            <a:cxnLst/>
            <a:rect l="l" t="t" r="r" b="b"/>
            <a:pathLst>
              <a:path w="489102" h="489102">
                <a:moveTo>
                  <a:pt x="0" y="0"/>
                </a:moveTo>
                <a:lnTo>
                  <a:pt x="489102" y="0"/>
                </a:lnTo>
                <a:lnTo>
                  <a:pt x="489102" y="489102"/>
                </a:lnTo>
                <a:lnTo>
                  <a:pt x="0" y="489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7833371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915665" y="6691503"/>
            <a:ext cx="5605275" cy="133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5"/>
              </a:lnSpc>
              <a:spcBef>
                <a:spcPct val="0"/>
              </a:spcBef>
            </a:pPr>
            <a:r>
              <a:rPr lang="en-US" sz="2596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Rua A, Bloco 07, Número 19, Distrito Industrial e Comercial de Ouvidor – Ouvidor / GO.</a:t>
            </a:r>
          </a:p>
        </p:txBody>
      </p:sp>
      <p:sp>
        <p:nvSpPr>
          <p:cNvPr id="7" name="Freeform 7"/>
          <p:cNvSpPr/>
          <p:nvPr/>
        </p:nvSpPr>
        <p:spPr>
          <a:xfrm>
            <a:off x="7833371" y="5143500"/>
            <a:ext cx="5176461" cy="5176461"/>
          </a:xfrm>
          <a:custGeom>
            <a:avLst/>
            <a:gdLst/>
            <a:ahLst/>
            <a:cxnLst/>
            <a:rect l="l" t="t" r="r" b="b"/>
            <a:pathLst>
              <a:path w="5176461" h="5176461">
                <a:moveTo>
                  <a:pt x="0" y="0"/>
                </a:moveTo>
                <a:lnTo>
                  <a:pt x="5176461" y="0"/>
                </a:lnTo>
                <a:lnTo>
                  <a:pt x="5176461" y="5176461"/>
                </a:lnTo>
                <a:lnTo>
                  <a:pt x="0" y="51764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>
            <a:off x="1028700" y="9272588"/>
            <a:ext cx="6492240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-455069" y="-885904"/>
            <a:ext cx="2370734" cy="2370734"/>
          </a:xfrm>
          <a:custGeom>
            <a:avLst/>
            <a:gdLst/>
            <a:ahLst/>
            <a:cxnLst/>
            <a:rect l="l" t="t" r="r" b="b"/>
            <a:pathLst>
              <a:path w="2370734" h="2370734">
                <a:moveTo>
                  <a:pt x="0" y="0"/>
                </a:moveTo>
                <a:lnTo>
                  <a:pt x="2370734" y="0"/>
                </a:lnTo>
                <a:lnTo>
                  <a:pt x="2370734" y="2370734"/>
                </a:lnTo>
                <a:lnTo>
                  <a:pt x="0" y="2370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9488505" y="0"/>
            <a:ext cx="11982524" cy="10287000"/>
          </a:xfrm>
          <a:custGeom>
            <a:avLst/>
            <a:gdLst/>
            <a:ahLst/>
            <a:cxnLst/>
            <a:rect l="l" t="t" r="r" b="b"/>
            <a:pathLst>
              <a:path w="11982524" h="10287000">
                <a:moveTo>
                  <a:pt x="0" y="0"/>
                </a:moveTo>
                <a:lnTo>
                  <a:pt x="11982525" y="0"/>
                </a:lnTo>
                <a:lnTo>
                  <a:pt x="11982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3468" r="-2915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1028700" y="2237305"/>
            <a:ext cx="1623060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40"/>
              </a:lnSpc>
              <a:spcBef>
                <a:spcPct val="0"/>
              </a:spcBef>
            </a:pPr>
            <a:r>
              <a:rPr lang="en-US" sz="9200" b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CONTATO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5665" y="4172332"/>
            <a:ext cx="4863659" cy="433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5"/>
              </a:lnSpc>
              <a:spcBef>
                <a:spcPct val="0"/>
              </a:spcBef>
            </a:pPr>
            <a:r>
              <a:rPr lang="en-US" sz="2596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(64) 99643-4480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5665" y="5395062"/>
            <a:ext cx="4863659" cy="433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5"/>
              </a:lnSpc>
              <a:spcBef>
                <a:spcPct val="0"/>
              </a:spcBef>
            </a:pPr>
            <a:r>
              <a:rPr lang="en-US" sz="2596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cleiton@arrudaservicos.com.br</a:t>
            </a:r>
          </a:p>
        </p:txBody>
      </p:sp>
      <p:sp>
        <p:nvSpPr>
          <p:cNvPr id="14" name="Freeform 14"/>
          <p:cNvSpPr/>
          <p:nvPr/>
        </p:nvSpPr>
        <p:spPr>
          <a:xfrm>
            <a:off x="914400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9144000" y="514350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929640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9296400" y="514350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74741" y="1348769"/>
            <a:ext cx="3138518" cy="880905"/>
            <a:chOff x="0" y="0"/>
            <a:chExt cx="6909363" cy="1939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09363" cy="1939290"/>
            </a:xfrm>
            <a:custGeom>
              <a:avLst/>
              <a:gdLst/>
              <a:ahLst/>
              <a:cxnLst/>
              <a:rect l="l" t="t" r="r" b="b"/>
              <a:pathLst>
                <a:path w="6909363" h="1939290">
                  <a:moveTo>
                    <a:pt x="5939718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5939718" y="1939290"/>
                  </a:lnTo>
                  <a:cubicBezTo>
                    <a:pt x="6474388" y="1939290"/>
                    <a:pt x="6909363" y="1504315"/>
                    <a:pt x="6909363" y="969645"/>
                  </a:cubicBezTo>
                  <a:cubicBezTo>
                    <a:pt x="6909363" y="434975"/>
                    <a:pt x="6474388" y="0"/>
                    <a:pt x="5939718" y="0"/>
                  </a:cubicBezTo>
                  <a:close/>
                  <a:moveTo>
                    <a:pt x="5939718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5939718" y="25400"/>
                  </a:lnTo>
                  <a:cubicBezTo>
                    <a:pt x="6460418" y="25400"/>
                    <a:pt x="6883963" y="448945"/>
                    <a:pt x="6883963" y="969645"/>
                  </a:cubicBezTo>
                  <a:cubicBezTo>
                    <a:pt x="6883963" y="1490345"/>
                    <a:pt x="6460418" y="1913890"/>
                    <a:pt x="593971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823311" y="1575017"/>
            <a:ext cx="2641377" cy="36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  <a:spcBef>
                <a:spcPct val="0"/>
              </a:spcBef>
            </a:pPr>
            <a:r>
              <a:rPr lang="en-US" sz="1980" b="1">
                <a:solidFill>
                  <a:srgbClr val="FFFFFF"/>
                </a:solidFill>
                <a:latin typeface="Livvic Bold"/>
                <a:ea typeface="Livvic Bold"/>
                <a:cs typeface="Livvic Bold"/>
                <a:sym typeface="Livvic Bold"/>
              </a:rPr>
              <a:t>Arruda Serviços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2372249" y="2614676"/>
            <a:ext cx="13543502" cy="227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34"/>
              </a:lnSpc>
              <a:spcBef>
                <a:spcPct val="0"/>
              </a:spcBef>
            </a:pPr>
            <a:r>
              <a:rPr lang="en-US" sz="14862" b="1">
                <a:solidFill>
                  <a:srgbClr val="FFFFFF"/>
                </a:solidFill>
                <a:latin typeface="Ouma Devanagari Bold"/>
                <a:ea typeface="Ouma Devanagari Bold"/>
                <a:cs typeface="Ouma Devanagari Bold"/>
                <a:sym typeface="Ouma Devanagari Bold"/>
              </a:rPr>
              <a:t>OBRIGADO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2879" y="0"/>
                  </a:moveTo>
                  <a:lnTo>
                    <a:pt x="4261847" y="0"/>
                  </a:lnTo>
                  <a:cubicBezTo>
                    <a:pt x="4268960" y="0"/>
                    <a:pt x="4274726" y="5766"/>
                    <a:pt x="4274726" y="12879"/>
                  </a:cubicBezTo>
                  <a:lnTo>
                    <a:pt x="4274726" y="2154588"/>
                  </a:lnTo>
                  <a:cubicBezTo>
                    <a:pt x="4274726" y="2161701"/>
                    <a:pt x="4268960" y="2167467"/>
                    <a:pt x="4261847" y="2167467"/>
                  </a:cubicBezTo>
                  <a:lnTo>
                    <a:pt x="12879" y="2167467"/>
                  </a:lnTo>
                  <a:cubicBezTo>
                    <a:pt x="5766" y="2167467"/>
                    <a:pt x="0" y="2161701"/>
                    <a:pt x="0" y="2154588"/>
                  </a:cubicBezTo>
                  <a:lnTo>
                    <a:pt x="0" y="12879"/>
                  </a:lnTo>
                  <a:cubicBezTo>
                    <a:pt x="0" y="5766"/>
                    <a:pt x="5766" y="0"/>
                    <a:pt x="128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539</Words>
  <Application>Microsoft Office PowerPoint</Application>
  <PresentationFormat>Personalizar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Ouma Devanagari Bold</vt:lpstr>
      <vt:lpstr>Livvic Bold</vt:lpstr>
      <vt:lpstr>Livvic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Arruda 2024</dc:title>
  <cp:lastModifiedBy>iago</cp:lastModifiedBy>
  <cp:revision>9</cp:revision>
  <dcterms:created xsi:type="dcterms:W3CDTF">2006-08-16T00:00:00Z</dcterms:created>
  <dcterms:modified xsi:type="dcterms:W3CDTF">2025-11-12T11:03:14Z</dcterms:modified>
  <dc:identifier>DAGTBC2mxyU</dc:identifier>
</cp:coreProperties>
</file>